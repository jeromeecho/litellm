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面向已经运行本地 LiteLLM，希望理解其工作原理的学习者。配套手册：learn/litellm-learning-handbook.md。建议用 30 至 45 分钟讲解，再按手册完成实验。
资料核对日期：2026-09-11
产品与 SDK: https://docs.litellm.ai/docs/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产品与 SDK: https://docs.litellm.ai/docs/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产品与 SDK: https://docs.litellm.ai/docs/
路由策略: https://docs.litellm.ai/docs/routing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产品与 SDK: https://docs.litellm.ai/docs/
Virtual Keys: https://docs.litellm.ai/docs/proxy/virtual_keys
请求与响应 Hook: https://docs.litellm.ai/docs/proxy/call_hooks
日志与可观测性: https://docs.litellm.ai/docs/proxy/logging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产品与 SDK: https://docs.litellm.ai/docs/
配置与数据来源: https://docs.litellm.ai/docs/proxy/configs
Foundry Responses 路由: https://learn.microsoft.com/en-us/azure/foundry/openai/how-to/responses-model-routing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配置与数据来源: https://docs.litellm.ai/docs/proxy/configs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Docker 与 Admin UI: https://docs.litellm.ai/docs/proxy/docker_quick_start
Virtual Keys: https://docs.litellm.ai/docs/proxy/virtual_keys
响应缓存: https://docs.litellm.ai/docs/proxy/caching
路由策略: https://docs.litellm.ai/docs/routing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CLI 快速开始: https://docs.litellm.ai/docs/proxy/quick_start
Docker 与 Admin UI: https://docs.litellm.ai/docs/proxy/docker_quick_start
官方在线文档可能晚于本地 LiteLLM 1.100.0。示例配置必须按目标版本核对，未声称所有功能已实测。此页 Docker 命令为结构示意，不能原样执行。$configMount 必须先设为实际的 type=bind,source=&lt;宿主绝对路径&gt;,target=/app/config.yaml,readonly 挂载说明。IMAGE@sha256:DIGEST 必须替换为已核对的官方镜像与摘要。完整准备步骤在配套手册。1.100.0 是已知本地运行的历史基线，不是最新版本或生产版本推荐。4001 避免与用户已运行的 4000 冲突。容器内文件路径使用 POSIX 语法，宿主文件路径使用 Windows 语法。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配置与数据来源: https://docs.litellm.ai/docs/proxy/configs
Virtual Keys: https://docs.litellm.ai/docs/proxy/virtual_keys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Docker 与 Admin UI: https://docs.litellm.ai/docs/proxy/docker_quick_start
配置与数据来源: https://docs.litellm.ai/docs/proxy/configs
请求与响应 Hook: https://docs.litellm.ai/docs/proxy/call_hooks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Virtual Keys: https://docs.litellm.ai/docs/proxy/virtual_keys
Docker 与 Admin UI: https://docs.litellm.ai/docs/proxy/docker_quick_start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路由策略: https://docs.litellm.ai/docs/routing
重试与 Fallback: https://docs.litellm.ai/docs/proxy/reliability
Auto Routing（Beta）: https://docs.litellm.ai/docs/proxy/auto_routing
Foundry Responses 路由: https://learn.microsoft.com/en-us/azure/foundry/openai/how-to/responses-model-routing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路由策略: https://docs.litellm.ai/docs/routing
官方在线文档可能晚于本地 LiteLLM 1.100.0。示例配置必须按目标版本核对，未声称所有功能已实测。YAML 是路由片段，省略两个部署各自的 api_base 和 api_key，需合并至完整配置。图中 90%/10% 为权重 9:1 的理论示意，不是流量测试结果。冷却、过滤等会改变可选候选集合。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路由策略: https://docs.litellm.ai/docs/routing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路由策略: https://docs.litellm.ai/docs/routing
Auto Routing（Beta）: https://docs.litellm.ai/docs/proxy/auto_routing
官方在线文档可能晚于本地 LiteLLM 1.100.0。示例配置必须按目标版本核对，未声称所有功能已实测。Auto Routing 文档称 v1.94.x 开始提供，示例模型为 auto_router/complexity_router。Beta 的键与默认值可能变化，不将官网所有新参数等同于本地 1.100.0 行为。可进一步学习 routing groups 和 session affinity，但先验证目标版本支持情况。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重试与 Fallback: https://docs.litellm.ai/docs/proxy/reliability
路由策略: https://docs.litellm.ai/docs/routing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Virtual Keys: https://docs.litellm.ai/docs/proxy/virtual_keys
Docker 与 Admin UI: https://docs.litellm.ai/docs/proxy/docker_quick_start
官方在线文档可能晚于本地 LiteLLM 1.100.0。示例配置必须按目标版本核对，未声称所有功能已实测。累计 Key spend 不证明单笔已正确计入 Router 附加费。异步记账和并发请求可能造成预算更新延迟，不应宣传绝对零超支。未接数据库的最小 Proxy 路径不能依赖数据库驱动的持久预算功能。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响应缓存: https://docs.litellm.ai/docs/proxy/caching
上游 Prompt Caching: https://docs.litellm.ai/docs/completion/prompt_caching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日志与可观测性: https://docs.litellm.ai/docs/proxy/logging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Guardrails: https://docs.litellm.ai/docs/proxy/guardrails/quick_start
请求与响应 Hook: https://docs.litellm.ai/docs/proxy/call_hooks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本地实测证据来自此会话历史，不是微软官方对所有模型的支持承诺。请求使用无害 schema_probe，strict=false，tool_choice=none。Sol 指本地部署 gpt-5.6-sol，Router 指 model-router。均为项目级 Responses 的前四行。第五行为资源级 Chat Completions。未再次执行收费调用。
资料核对日期：2026-09-11
Foundry Responses 路由: https://learn.microsoft.com/en-us/azure/foundry/openai/how-to/responses-model-routing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请求与响应 Hook: https://docs.litellm.ai/docs/proxy/call_hooks
重试与 Fallback: https://docs.litellm.ai/docs/proxy/reliability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Docker 与 Admin UI: https://docs.litellm.ai/docs/proxy/docker_quick_start
配置与数据来源: https://docs.litellm.ai/docs/proxy/configs
路由策略: https://docs.litellm.ai/docs/routing
日志与可观测性: https://docs.litellm.ai/docs/proxy/logging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路由策略: https://docs.litellm.ai/docs/routing
重试与 Fallback: https://docs.litellm.ai/docs/proxy/reliability
响应缓存: https://docs.litellm.ai/docs/proxy/caching
Virtual Keys: https://docs.litellm.ai/docs/proxy/virtual_keys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产品与 SDK: https://docs.litellm.ai/docs/
路由策略: https://docs.litellm.ai/docs/routing
Virtual Keys: https://docs.litellm.ai/docs/proxy/virtual_keys
日志与可观测性: https://docs.litellm.ai/docs/proxy/logging
官方在线文档可能晚于本地 LiteLLM 1.100.0。示例配置必须按目标版本核对，未声称所有功能已实测。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资料核对日期：2026-09-11
产品与 SDK: https://docs.litellm.ai/docs/
官方在线文档可能晚于本地 LiteLLM 1.100.0。示例配置必须按目标版本核对，未声称所有功能已实测。产品与 SDK: https://docs.litellm.ai/docs/
CLI 快速开始: https://docs.litellm.ai/docs/proxy/quick_start
Docker 与 Admin UI: https://docs.litellm.ai/docs/proxy/docker_quick_start
配置与数据来源: https://docs.litellm.ai/docs/proxy/configs
路由策略: https://docs.litellm.ai/docs/routing
重试与 Fallback: https://docs.litellm.ai/docs/proxy/reliability
Virtual Keys: https://docs.litellm.ai/docs/proxy/virtual_keys
响应缓存: https://docs.litellm.ai/docs/proxy/caching
日志与可观测性: https://docs.litellm.ai/docs/proxy/logging
请求与响应 Hook: https://docs.litellm.ai/docs/proxy/call_hooks
Guardrails: https://docs.litellm.ai/docs/proxy/guardrails/quick_start
Auto Routing（Beta）: https://docs.litellm.ai/docs/proxy/auto_routing
Foundry Responses 路由: https://learn.microsoft.com/en-us/azure/foundry/openai/how-to/responses-model-routing
上游 Prompt Caching: https://docs.litellm.ai/docs/completion/prompt_caching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litellm.ai/docs/" TargetMode="External"/><Relationship Id="rId2" Type="http://schemas.openxmlformats.org/officeDocument/2006/relationships/hyperlink" Target="https://docs.litellm.ai/docs/proxy/quick_start" TargetMode="External"/><Relationship Id="rId3" Type="http://schemas.openxmlformats.org/officeDocument/2006/relationships/hyperlink" Target="https://docs.litellm.ai/docs/proxy/docker_quick_start" TargetMode="External"/><Relationship Id="rId4" Type="http://schemas.openxmlformats.org/officeDocument/2006/relationships/hyperlink" Target="https://docs.litellm.ai/docs/proxy/configs" TargetMode="External"/><Relationship Id="rId5" Type="http://schemas.openxmlformats.org/officeDocument/2006/relationships/hyperlink" Target="https://docs.litellm.ai/docs/routing" TargetMode="External"/><Relationship Id="rId6" Type="http://schemas.openxmlformats.org/officeDocument/2006/relationships/hyperlink" Target="https://docs.litellm.ai/docs/proxy/reliability" TargetMode="External"/><Relationship Id="rId7" Type="http://schemas.openxmlformats.org/officeDocument/2006/relationships/hyperlink" Target="https://docs.litellm.ai/docs/proxy/virtual_keys" TargetMode="External"/><Relationship Id="rId8" Type="http://schemas.openxmlformats.org/officeDocument/2006/relationships/hyperlink" Target="https://docs.litellm.ai/docs/proxy/caching" TargetMode="External"/><Relationship Id="rId9" Type="http://schemas.openxmlformats.org/officeDocument/2006/relationships/hyperlink" Target="https://docs.litellm.ai/docs/proxy/logging" TargetMode="External"/><Relationship Id="rId10" Type="http://schemas.openxmlformats.org/officeDocument/2006/relationships/hyperlink" Target="https://docs.litellm.ai/docs/proxy/call_hooks" TargetMode="External"/><Relationship Id="rId11" Type="http://schemas.openxmlformats.org/officeDocument/2006/relationships/hyperlink" Target="https://docs.litellm.ai/docs/proxy/guardrails/quick_start" TargetMode="External"/><Relationship Id="rId12" Type="http://schemas.openxmlformats.org/officeDocument/2006/relationships/hyperlink" Target="https://docs.litellm.ai/docs/proxy/auto_routing" TargetMode="External"/><Relationship Id="rId13" Type="http://schemas.openxmlformats.org/officeDocument/2006/relationships/hyperlink" Target="https://learn.microsoft.com/en-us/azure/foundry/openai/how-to/responses-model-routing" TargetMode="External"/><Relationship Id="rId14" Type="http://schemas.openxmlformats.org/officeDocument/2006/relationships/hyperlink" Target="https://docs.litellm.ai/docs/completion/prompt_caching" TargetMode="External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E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学习导览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LiteLLM：从接入到治理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E2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理解一条请求如何通过网关，以及怎样把模型变成可管理的服务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D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E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D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来源：产品与 SDK · 链接见备注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3774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统一接入</a:t>
            </a:r>
            <a:endParaRPr lang="en-US" sz="33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路由与可靠性</a:t>
            </a:r>
            <a:endParaRPr lang="en-US" sz="33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成本与权限</a:t>
            </a:r>
            <a:endParaRPr lang="en-US" sz="3300" dirty="0"/>
          </a:p>
        </p:txBody>
      </p:sp>
      <p:sp>
        <p:nvSpPr>
          <p:cNvPr id="10" name="Shape 7"/>
          <p:cNvSpPr/>
          <p:nvPr/>
        </p:nvSpPr>
        <p:spPr>
          <a:xfrm>
            <a:off x="6629400" y="2788920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9516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629400" y="1993392"/>
            <a:ext cx="2743200" cy="329184"/>
          </a:xfrm>
          <a:prstGeom prst="roundRect">
            <a:avLst>
              <a:gd name="adj" fmla="val 36111"/>
            </a:avLst>
          </a:prstGeom>
          <a:solidFill>
            <a:srgbClr val="D4EB7A"/>
          </a:solidFill>
          <a:ln w="10160">
            <a:solidFill>
              <a:srgbClr val="D4EB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2052828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 / Agent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01000" y="2395728"/>
            <a:ext cx="0" cy="310896"/>
          </a:xfrm>
          <a:prstGeom prst="line">
            <a:avLst/>
          </a:prstGeom>
          <a:noFill/>
          <a:ln w="22860">
            <a:solidFill>
              <a:srgbClr val="D4EB7A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760720" y="4572000"/>
            <a:ext cx="1554480" cy="329184"/>
          </a:xfrm>
          <a:prstGeom prst="roundRect">
            <a:avLst>
              <a:gd name="adj" fmla="val 36111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463143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 flipH="1">
            <a:off x="6537960" y="4032504"/>
            <a:ext cx="1463040" cy="420624"/>
          </a:xfrm>
          <a:prstGeom prst="line">
            <a:avLst/>
          </a:prstGeom>
          <a:noFill/>
          <a:ln w="22860">
            <a:solidFill>
              <a:srgbClr val="D8F0E7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589520" y="4572000"/>
            <a:ext cx="1554480" cy="329184"/>
          </a:xfrm>
          <a:prstGeom prst="roundRect">
            <a:avLst>
              <a:gd name="adj" fmla="val 36111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0" y="463143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B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001000" y="4032504"/>
            <a:ext cx="365760" cy="420624"/>
          </a:xfrm>
          <a:prstGeom prst="line">
            <a:avLst/>
          </a:prstGeom>
          <a:noFill/>
          <a:ln w="22860">
            <a:solidFill>
              <a:srgbClr val="D8F0E7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418320" y="4572000"/>
            <a:ext cx="1554480" cy="329184"/>
          </a:xfrm>
          <a:prstGeom prst="roundRect">
            <a:avLst>
              <a:gd name="adj" fmla="val 36111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09760" y="463143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C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001000" y="4032504"/>
            <a:ext cx="2194560" cy="420624"/>
          </a:xfrm>
          <a:prstGeom prst="line">
            <a:avLst/>
          </a:prstGeom>
          <a:noFill/>
          <a:ln w="22860">
            <a:solidFill>
              <a:srgbClr val="D8F0E7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658368" y="5138928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4E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 + 本地实验案例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4E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配套：中文学习手册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01 / 定位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它解决的是多模型接入的工程问题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应用不再各自维护 Provider 适配、密钥、预算、日志和故障切换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来源：产品与 SDK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67712"/>
            <a:ext cx="5120640" cy="2743200"/>
          </a:xfrm>
          <a:prstGeom prst="roundRect">
            <a:avLst>
              <a:gd name="adj" fmla="val 4333"/>
            </a:avLst>
          </a:prstGeom>
          <a:solidFill>
            <a:srgbClr val="F6E4DE"/>
          </a:solidFill>
          <a:ln w="10160">
            <a:solidFill>
              <a:srgbClr val="F6E4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523744"/>
            <a:ext cx="4645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没有统一网关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86384" y="3182112"/>
            <a:ext cx="46451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每个应用持有上游 Key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重复处理接口和错误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花费分散，排错链路断开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92240" y="2267712"/>
            <a:ext cx="5120640" cy="2743200"/>
          </a:xfrm>
          <a:prstGeom prst="roundRect">
            <a:avLst>
              <a:gd name="adj" fmla="val 4333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9984" y="2523744"/>
            <a:ext cx="4645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 LiteLLM Proxy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729984" y="3182112"/>
            <a:ext cx="46451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应用使用统一入口与 Virtual Key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集中定义部署、路由、限额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按请求关联成本、延迟与错误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824728" y="3538728"/>
            <a:ext cx="466344" cy="0"/>
          </a:xfrm>
          <a:prstGeom prst="line">
            <a:avLst/>
          </a:prstGeom>
          <a:noFill/>
          <a:ln w="22860">
            <a:solidFill>
              <a:srgbClr val="087F7B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48640" y="557784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572414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边界：网关不训练模型，也不会自动让所有模型支持相同能力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01 / 三个组件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SDK、Router、Proxy 各做什么？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可以只在 Python 内使用 SDK，也可以把 Proxy 部署成所有应用共享的服务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来源：产品与 SDK / 路由策略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3493008" cy="3108960"/>
          </a:xfrm>
          <a:prstGeom prst="roundRect">
            <a:avLst>
              <a:gd name="adj" fmla="val 38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6384" y="2459736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519172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6384" y="29626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86384" y="3584448"/>
            <a:ext cx="30175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 Python 程序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 Provider 的参数与响应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统一错误类型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34256" y="2240280"/>
            <a:ext cx="3493008" cy="3108960"/>
          </a:xfrm>
          <a:prstGeom prst="roundRect">
            <a:avLst>
              <a:gd name="adj" fmla="val 38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459736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2519172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0" y="29626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4572000" y="3584448"/>
            <a:ext cx="30175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管理模型组和候选部署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选择部署，处理重试与切换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可被 SDK 程序或 Proxy 使用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19872" y="2240280"/>
            <a:ext cx="3493008" cy="3108960"/>
          </a:xfrm>
          <a:prstGeom prst="roundRect">
            <a:avLst>
              <a:gd name="adj" fmla="val 382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57616" y="2459736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49056" y="2519172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357616" y="29626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357616" y="3584448"/>
            <a:ext cx="30175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网关与 Admin UI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认证、权限、预算、路由和日志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应用只需要 URL 与 Virtual Key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557784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" y="572414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客户端使用 OpenAI SDK，不代表请求最终发往 OpenAI 公网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02 / 请求链路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把一次请求拆成可观察的阶段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这是概念流程，不保证每种端点、缓存和 Hook 的内部执行顺序完全相同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来源：产品与 SDK / Virtual Keys / 请求与响应 Hook / 日志与可观测性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1993392" cy="2103120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816352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86384" y="3474720"/>
            <a:ext cx="1517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公开模型名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请求协议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87752" y="3511296"/>
            <a:ext cx="201168" cy="0"/>
          </a:xfrm>
          <a:prstGeom prst="line">
            <a:avLst/>
          </a:prstGeom>
          <a:noFill/>
          <a:ln w="22860">
            <a:solidFill>
              <a:srgbClr val="087F7B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16352" y="2560320"/>
            <a:ext cx="1993392" cy="2103120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54096" y="2816352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3054096" y="3474720"/>
            <a:ext cx="1517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认证与权限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 / 限流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855464" y="3511296"/>
            <a:ext cx="201168" cy="0"/>
          </a:xfrm>
          <a:prstGeom prst="line">
            <a:avLst/>
          </a:prstGeom>
          <a:noFill/>
          <a:ln w="22860">
            <a:solidFill>
              <a:srgbClr val="087F7B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084064" y="2560320"/>
            <a:ext cx="1993392" cy="2103120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21808" y="2816352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5321808" y="3474720"/>
            <a:ext cx="1517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筛选候选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选择部署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123176" y="3511296"/>
            <a:ext cx="201168" cy="0"/>
          </a:xfrm>
          <a:prstGeom prst="line">
            <a:avLst/>
          </a:prstGeom>
          <a:noFill/>
          <a:ln w="22860">
            <a:solidFill>
              <a:srgbClr val="087F7B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351776" y="2560320"/>
            <a:ext cx="1993392" cy="2103120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0" y="2816352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7589520" y="3474720"/>
            <a:ext cx="1517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协议适配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上游认证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390888" y="3511296"/>
            <a:ext cx="201168" cy="0"/>
          </a:xfrm>
          <a:prstGeom prst="line">
            <a:avLst/>
          </a:prstGeom>
          <a:noFill/>
          <a:ln w="22860">
            <a:solidFill>
              <a:srgbClr val="087F7B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619488" y="2560320"/>
            <a:ext cx="1993392" cy="2103120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57232" y="2816352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9857232" y="3474720"/>
            <a:ext cx="1517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推理结果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usage / error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834640" y="5029200"/>
            <a:ext cx="6492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35808" y="5175504"/>
            <a:ext cx="6080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结果返回，同时形成可关联的延迟、token、成本与错误记录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 flipH="1">
            <a:off x="9372600" y="4800600"/>
            <a:ext cx="868680" cy="484632"/>
          </a:xfrm>
          <a:prstGeom prst="line">
            <a:avLst/>
          </a:prstGeom>
          <a:noFill/>
          <a:ln w="22860">
            <a:solidFill>
              <a:srgbClr val="087F7B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02 / 协议边界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统一入口，不等于协议语义完全相同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必须一起确认：客户端端点、LiteLLM Adapter、上游端点与模型能力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来源：产品与 SDK / 配置与数据来源 / Foundry Responses 路由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283464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359152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客户端协议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83280" y="2240280"/>
            <a:ext cx="301752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2359152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典型结构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0" y="2240280"/>
            <a:ext cx="521208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2359152"/>
            <a:ext cx="4937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需要单独核对的能力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743200"/>
            <a:ext cx="2834640" cy="83210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287121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 Completions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383280" y="2743200"/>
            <a:ext cx="3017520" cy="83210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20440" y="287121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 / choices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0" y="2743200"/>
            <a:ext cx="5212080" cy="83210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37960" y="287121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 tools、JSON Schema、流式增量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3575304"/>
            <a:ext cx="2834640" cy="832104"/>
          </a:xfrm>
          <a:prstGeom prst="rect">
            <a:avLst>
              <a:gd name="adj" fmla="val 14286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7033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383280" y="3575304"/>
            <a:ext cx="3017520" cy="832104"/>
          </a:xfrm>
          <a:prstGeom prst="rect">
            <a:avLst>
              <a:gd name="adj" fmla="val 14286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20440" y="37033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 / output items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00800" y="3575304"/>
            <a:ext cx="5212080" cy="832104"/>
          </a:xfrm>
          <a:prstGeom prst="rect">
            <a:avLst>
              <a:gd name="adj" fmla="val 14286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37960" y="37033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工具类型、状态引用、reasoning、事件流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48640" y="4407408"/>
            <a:ext cx="2834640" cy="83210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53542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Messages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383280" y="4407408"/>
            <a:ext cx="3017520" cy="83210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20440" y="45354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 / content blocks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400800" y="4407408"/>
            <a:ext cx="5212080" cy="832104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37960" y="45354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tool_use、tool_result、cache_control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48640" y="557784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572414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原生转发保留原协议；桥接会转换结构，但不能保证所有功能无损等价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02 / 模型映射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一个“模型”背后，其实有几种名字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先把公开名字、适配器、部署地址和实际返回模型分清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来源：配置与数据来源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278892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313432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37560" y="2194560"/>
            <a:ext cx="411480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0" y="2313432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452360" y="2194560"/>
            <a:ext cx="416052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2313432"/>
            <a:ext cx="3886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697480"/>
            <a:ext cx="278892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28254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model_name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337560" y="2697480"/>
            <a:ext cx="411480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0" y="28254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team-chat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52360" y="2697480"/>
            <a:ext cx="416052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9520" y="282549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客户端可见的模型组名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3218688"/>
            <a:ext cx="2788920" cy="521208"/>
          </a:xfrm>
          <a:prstGeom prst="rect">
            <a:avLst>
              <a:gd name="adj" fmla="val 22807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34670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litellm_params.model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337560" y="3218688"/>
            <a:ext cx="4114800" cy="521208"/>
          </a:xfrm>
          <a:prstGeom prst="rect">
            <a:avLst>
              <a:gd name="adj" fmla="val 22807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0" y="3346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openai/YOUR_DEPLOYMENT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452360" y="3218688"/>
            <a:ext cx="4160520" cy="521208"/>
          </a:xfrm>
          <a:prstGeom prst="rect">
            <a:avLst>
              <a:gd name="adj" fmla="val 22807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0" y="33467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Adapter 与上游模型 / 部署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3739896"/>
            <a:ext cx="278892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38679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api_base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337560" y="3739896"/>
            <a:ext cx="411480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74720" y="3867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https://RESOURCE/.../openai/v1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452360" y="3739896"/>
            <a:ext cx="416052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89520" y="38679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实际上游地址，不是客户端网关地址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4261104"/>
            <a:ext cx="2788920" cy="521208"/>
          </a:xfrm>
          <a:prstGeom prst="rect">
            <a:avLst>
              <a:gd name="adj" fmla="val 22807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" y="43891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model_info.id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3337560" y="4261104"/>
            <a:ext cx="4114800" cy="521208"/>
          </a:xfrm>
          <a:prstGeom prst="rect">
            <a:avLst>
              <a:gd name="adj" fmla="val 22807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74720" y="4389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region-a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452360" y="4261104"/>
            <a:ext cx="4160520" cy="521208"/>
          </a:xfrm>
          <a:prstGeom prst="rect">
            <a:avLst>
              <a:gd name="adj" fmla="val 22807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89520" y="4389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区分同组中的具体部署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48640" y="4782312"/>
            <a:ext cx="278892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5800" y="49103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响应中的 model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3337560" y="4782312"/>
            <a:ext cx="411480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74720" y="4910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返回的模型标识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452360" y="4782312"/>
            <a:ext cx="416052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589520" y="49103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分析实际后端，但需结合请求日志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548640" y="557784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9808" y="572414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两个条目使用同一个 model_name，通常意味着一个模型组里有两个候选部署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03 / 部署架构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与 Redis 不是同一种依赖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最小代理可以不接数据库；完整治理与多副本状态共享需要额外组件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来源：Docker 与 Admin UI / Virtual Keys / 响应缓存 / 路由策略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246888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907792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 / Agent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86384" y="356616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Virtual Key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统一网关地址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657600" y="2651760"/>
            <a:ext cx="3657600" cy="1874520"/>
          </a:xfrm>
          <a:prstGeom prst="roundRect">
            <a:avLst>
              <a:gd name="adj" fmla="val 6341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95344" y="2907792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 副本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3895344" y="3566160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认证、路由、协议适配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可按流量水平扩容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108960" y="3593592"/>
            <a:ext cx="438912" cy="0"/>
          </a:xfrm>
          <a:prstGeom prst="line">
            <a:avLst/>
          </a:prstGeom>
          <a:noFill/>
          <a:ln w="22860">
            <a:solidFill>
              <a:srgbClr val="087F7B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321040" y="2176272"/>
            <a:ext cx="3291840" cy="1536192"/>
          </a:xfrm>
          <a:prstGeom prst="roundRect">
            <a:avLst>
              <a:gd name="adj" fmla="val 7738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58784" y="2432304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558784" y="3090672"/>
            <a:ext cx="2816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模型部署与实际推理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406640" y="3035808"/>
            <a:ext cx="804672" cy="0"/>
          </a:xfrm>
          <a:prstGeom prst="line">
            <a:avLst/>
          </a:prstGeom>
          <a:noFill/>
          <a:ln w="22860">
            <a:solidFill>
              <a:srgbClr val="087F7B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321040" y="4069080"/>
            <a:ext cx="3291840" cy="1536192"/>
          </a:xfrm>
          <a:prstGeom prst="roundRect">
            <a:avLst>
              <a:gd name="adj" fmla="val 7738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58784" y="4325112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8558784" y="4983480"/>
            <a:ext cx="28163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持久模型、Key、预算与日志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406640" y="4050792"/>
            <a:ext cx="804672" cy="566928"/>
          </a:xfrm>
          <a:prstGeom prst="line">
            <a:avLst/>
          </a:prstGeom>
          <a:noFill/>
          <a:ln w="22860">
            <a:solidFill>
              <a:srgbClr val="087F7B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657600" y="4937760"/>
            <a:ext cx="3657600" cy="731520"/>
          </a:xfrm>
          <a:prstGeom prst="roundRect">
            <a:avLst>
              <a:gd name="adj" fmla="val 16250"/>
            </a:avLst>
          </a:prstGeom>
          <a:solidFill>
            <a:srgbClr val="162F30"/>
          </a:solidFill>
          <a:ln w="10160">
            <a:solidFill>
              <a:srgbClr val="162F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58768" y="51663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Redis：缓存、用量与冷却状态共享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0" y="4608576"/>
            <a:ext cx="0" cy="219456"/>
          </a:xfrm>
          <a:prstGeom prst="line">
            <a:avLst/>
          </a:prstGeom>
          <a:noFill/>
          <a:ln w="22860">
            <a:solidFill>
              <a:srgbClr val="087F7B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03 / 安装路径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先跑最小闭环，再加治理能力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1.100.0 为本地历史基线，不代表最新版本；Docker 命令为结构示意，完整步骤见学习手册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来源：CLI 快速开始 / Docker 与 Admin UI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5358384" cy="1929384"/>
          </a:xfrm>
          <a:prstGeom prst="roundRect">
            <a:avLst>
              <a:gd name="adj" fmla="val 616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450592"/>
            <a:ext cx="4882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A：Python CLI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86384" y="3108960"/>
            <a:ext cx="4882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适合学习配置与源码调试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3.10+，隔离环境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显式加载自己的 YAML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4343400"/>
            <a:ext cx="5358384" cy="1627632"/>
          </a:xfrm>
          <a:prstGeom prst="roundRect">
            <a:avLst>
              <a:gd name="adj" fmla="val 7303"/>
            </a:avLst>
          </a:prstGeom>
          <a:solidFill>
            <a:srgbClr val="162F30"/>
          </a:solidFill>
          <a:ln w="10160">
            <a:solidFill>
              <a:srgbClr val="162F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4544568"/>
            <a:ext cx="48646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.venv-learn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.\.venv-learn\Scripts\python -m pip install `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"litellm[proxy]==1.100.0"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.\.venv-learn\Scripts\litellm `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.\config.yaml --port 4001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54496" y="2194560"/>
            <a:ext cx="5358384" cy="1929384"/>
          </a:xfrm>
          <a:prstGeom prst="roundRect">
            <a:avLst>
              <a:gd name="adj" fmla="val 616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2450592"/>
            <a:ext cx="4882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B：Docker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492240" y="3108960"/>
            <a:ext cx="4882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适合复现部署环境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挂载配置，显式传入环境变量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需要治理时添加数据库与持久卷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54496" y="4343400"/>
            <a:ext cx="5358384" cy="1627632"/>
          </a:xfrm>
          <a:prstGeom prst="roundRect">
            <a:avLst>
              <a:gd name="adj" fmla="val 7303"/>
            </a:avLst>
          </a:prstGeom>
          <a:solidFill>
            <a:srgbClr val="162F30"/>
          </a:solidFill>
          <a:ln w="10160">
            <a:solidFill>
              <a:srgbClr val="162F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01384" y="4544568"/>
            <a:ext cx="48646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--env-file .env `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--mount $configMount `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127.0.0.1:4001:4000 `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IMAGE@sha256:DIGEST `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/app/config.yaml --port 4000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03 / 配置结构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先看懂这四个配置区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完整教学配置与 PowerShell 调用示例见配套学习手册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来源：配置与数据来源 / Virtual Keys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6080760" cy="3794760"/>
          </a:xfrm>
          <a:prstGeom prst="roundRect">
            <a:avLst>
              <a:gd name="adj" fmla="val 3133"/>
            </a:avLst>
          </a:prstGeom>
          <a:solidFill>
            <a:srgbClr val="162F30"/>
          </a:solidFill>
          <a:ln w="10160">
            <a:solidFill>
              <a:srgbClr val="162F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395728"/>
            <a:ext cx="5586984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model_list: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model_name: team-chat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litellm_params: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model: openai/YOUR_DEPLOYMENT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api_base: os.environ/UPSTREAM_BASE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api_key: os.environ/UPSTREAM_KEY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router_settings: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routing_strategy: simple-shuffle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litellm_settings: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turn_off_message_logging: true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general_settings: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master_key: os.environ/LITELLM_MASTER_KEY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76872" y="2194560"/>
            <a:ext cx="4636008" cy="83210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14616" y="23134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model_list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14616" y="266090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公开入口与上游部署映射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76872" y="3200400"/>
            <a:ext cx="4636008" cy="83210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14616" y="33192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router_settings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214616" y="36667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部署选择、超时、重试与 Fallback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76872" y="4206240"/>
            <a:ext cx="4636008" cy="83210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14616" y="4325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litellm_settings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14616" y="46725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库级行为，如日志与缓存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976872" y="5157216"/>
            <a:ext cx="4636008" cy="83210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14616" y="52760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general_settings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214616" y="56235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 认证与数据库等服务设置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03 / 管理界面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UI 管理日常操作，YAML 管理可复现配置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不是运行全部 Python 扩展逻辑的编辑器，是否支持某个开关取决于版本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来源：Docker 与 Admin UI / 配置与数据来源 / 请求与响应 Hook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395728"/>
            <a:ext cx="2560320" cy="2304288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6384" y="2615184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674620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6384" y="311810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86384" y="373989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添加部署与连接测试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383280" y="2395728"/>
            <a:ext cx="2560320" cy="2304288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21024" y="2615184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12464" y="2674620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621024" y="311810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Playground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3621024" y="373989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验证指定协议与模型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17920" y="2395728"/>
            <a:ext cx="2560320" cy="2304288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55664" y="2615184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47104" y="2674620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55664" y="311810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Virtual Keys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6455664" y="373989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授权模型与设置限额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052560" y="2395728"/>
            <a:ext cx="2560320" cy="2304288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90304" y="2615184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81744" y="2674620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290304" y="311810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Logs / Spend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9290304" y="3739896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关联错误、延迟和费用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48640" y="507492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9808" y="522122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/ API 写入数据库后，要确认最终生效值，不能只检查磁盘 YAML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58952" y="5788152"/>
            <a:ext cx="10671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当前官方文档：数据库可覆盖同名设置项；数据库模型可与 YAML 模型并存，同名会增加部署候选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04 / 密钥与权限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 Key，不要混用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普通客户端拿 Virtual Key；上游 Provider Key 留在网关侧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来源：Virtual Keys / Docker 与 Admin UI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306324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359152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11880" y="2240280"/>
            <a:ext cx="3685032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49040" y="2359152"/>
            <a:ext cx="3410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296912" y="2240280"/>
            <a:ext cx="4315968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34072" y="2359152"/>
            <a:ext cx="4041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操作原则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743200"/>
            <a:ext cx="306324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2871216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API Key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611880" y="2743200"/>
            <a:ext cx="3685032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49040" y="2871216"/>
            <a:ext cx="3410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向模型服务认证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296912" y="2743200"/>
            <a:ext cx="4315968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34072" y="2871216"/>
            <a:ext cx="40416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不分发给每个应用，不进代码仓库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3383280"/>
            <a:ext cx="306324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511296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LITELLM_MASTER_KEY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611880" y="3383280"/>
            <a:ext cx="3685032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49040" y="3511296"/>
            <a:ext cx="3410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 管理与高权限操作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296912" y="3383280"/>
            <a:ext cx="4315968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34072" y="3511296"/>
            <a:ext cx="40416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不要作为日常应用 Key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4023360"/>
            <a:ext cx="306324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151376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Virtual Key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3611880" y="4023360"/>
            <a:ext cx="3685032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49040" y="4151376"/>
            <a:ext cx="3410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 / 用户的受控访问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7296912" y="4023360"/>
            <a:ext cx="4315968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34072" y="4151376"/>
            <a:ext cx="40416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限定模型、有效期、预算和速率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548640" y="4663440"/>
            <a:ext cx="306324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" y="4791456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LITELLM_SALT_KEY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3611880" y="4663440"/>
            <a:ext cx="3685032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749040" y="4791456"/>
            <a:ext cx="34107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加密存储的 Provider 凭据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7296912" y="4663440"/>
            <a:ext cx="4315968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434072" y="4791456"/>
            <a:ext cx="40416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稳定备份，不可随意重建或更换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548640" y="557784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9808" y="572414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权限不只是一个 Key 字符串：还要核对所属用户、团队与管理路由权限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05 / 路由全景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先分清“路由”是在选什么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三个层次可以组合，但目标和证据不同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来源：路由策略 / 重试与 Fallback / Auto Routing（Beta） / Foundry Responses 路由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3493008" cy="3154680"/>
          </a:xfrm>
          <a:prstGeom prst="roundRect">
            <a:avLst>
              <a:gd name="adj" fmla="val 3768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6384" y="2459736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519172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6384" y="29626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组内负载均衡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86384" y="3584448"/>
            <a:ext cx="30175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model_name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在多个候选部署之间分流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例：两个区域的同款部署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34256" y="2240280"/>
            <a:ext cx="3493008" cy="3154680"/>
          </a:xfrm>
          <a:prstGeom prst="roundRect">
            <a:avLst>
              <a:gd name="adj" fmla="val 3768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459736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2519172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0" y="29626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模型组之间切换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4572000" y="3584448"/>
            <a:ext cx="30175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主组失败后走 Fallback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或按规则 / 复杂度主动选组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两者触发条件不同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19872" y="2240280"/>
            <a:ext cx="3493008" cy="3154680"/>
          </a:xfrm>
          <a:prstGeom prst="roundRect">
            <a:avLst>
              <a:gd name="adj" fmla="val 3768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57616" y="2459736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49056" y="2519172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357616" y="29626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上游二次选模型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357616" y="3584448"/>
            <a:ext cx="30175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Model Router 等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上游收到请求后选择后端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不一定掌握内部决策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557784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" y="572414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不要把 LiteLLM 的 simple-shuffle 与 Azure Model Router 当成同一个功能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05 / 默认策略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simple-shuffle：随机选择，也可以加权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官方推荐的生产默认策略，选择开销较低；不是轮询 Round Robin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来源：路由策略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12848"/>
            <a:ext cx="5394960" cy="3621024"/>
          </a:xfrm>
          <a:prstGeom prst="roundRect">
            <a:avLst>
              <a:gd name="adj" fmla="val 3283"/>
            </a:avLst>
          </a:prstGeom>
          <a:solidFill>
            <a:srgbClr val="162F30"/>
          </a:solidFill>
          <a:ln w="10160">
            <a:solidFill>
              <a:srgbClr val="162F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2414016"/>
            <a:ext cx="4901184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model_list: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model_name: team-chat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litellm_params: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model: openai/DEPLOYMENT_A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weight: 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model_name: team-chat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litellm_params: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model: openai/DEPLOYMENT_B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weight: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router_settings: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routing_strategy: simple-shuffle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假设两个部署都健康、都可选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492240" y="3035808"/>
            <a:ext cx="4069080" cy="685800"/>
          </a:xfrm>
          <a:prstGeom prst="rect">
            <a:avLst>
              <a:gd name="adj" fmla="val 17333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561320" y="3035808"/>
            <a:ext cx="457200" cy="685800"/>
          </a:xfrm>
          <a:prstGeom prst="rect">
            <a:avLst>
              <a:gd name="adj" fmla="val 26000"/>
            </a:avLst>
          </a:prstGeom>
          <a:solidFill>
            <a:srgbClr val="D4EB7A"/>
          </a:solidFill>
          <a:ln w="10160">
            <a:solidFill>
              <a:srgbClr val="D4EB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01968" y="3236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A：约 90%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811512" y="3931920"/>
            <a:ext cx="1600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B：约 10%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0789920" y="3749040"/>
            <a:ext cx="0" cy="118872"/>
          </a:xfrm>
          <a:prstGeom prst="line">
            <a:avLst/>
          </a:prstGeom>
          <a:noFill/>
          <a:ln w="22860">
            <a:solidFill>
              <a:srgbClr val="087F7B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6492240" y="4526280"/>
            <a:ext cx="47548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是长期概率，不是每 10 次固定 9:1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不设权重 / RPM / TPM 时随机选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RPM / TPM 也可用于容量加权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05 / 策略选择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按负载、用量还是历史延迟选？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信号越多，不代表一定越好：状态维护开销、冷启动和样本偏差都需要考虑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来源：路由策略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324612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359152"/>
            <a:ext cx="2971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策略值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94760" y="2240280"/>
            <a:ext cx="315468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31920" y="235915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决策依据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949440" y="2240280"/>
            <a:ext cx="466344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2359152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适用点 / 代价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743200"/>
            <a:ext cx="324612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2871216"/>
            <a:ext cx="2971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simple-shuffle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794760" y="2743200"/>
            <a:ext cx="315468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31920" y="2871216"/>
            <a:ext cx="2880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 / 权重 / 容量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949440" y="2743200"/>
            <a:ext cx="466344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86600" y="2871216"/>
            <a:ext cx="4389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默认起点；无需逐次计算最优部署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3383280"/>
            <a:ext cx="324612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511296"/>
            <a:ext cx="2971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least-busy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794760" y="3383280"/>
            <a:ext cx="315468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31920" y="3511296"/>
            <a:ext cx="2880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当前进行中的请求数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949440" y="3383280"/>
            <a:ext cx="466344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86600" y="3511296"/>
            <a:ext cx="4389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长短请求混合；请求数不等于 token 工作量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4023360"/>
            <a:ext cx="324612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151376"/>
            <a:ext cx="2971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usage-based-routing-v2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794760" y="4023360"/>
            <a:ext cx="315468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931920" y="4151376"/>
            <a:ext cx="2880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本分钟 TPM，过滤超额候选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949440" y="4023360"/>
            <a:ext cx="466344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86600" y="4151376"/>
            <a:ext cx="4389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配额敏感；异步 Redis 仍有开销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4663440"/>
            <a:ext cx="324612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" y="4791456"/>
            <a:ext cx="2971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latency-based-routing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3794760" y="4663440"/>
            <a:ext cx="315468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931920" y="4791456"/>
            <a:ext cx="2880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历史延迟统计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949440" y="4663440"/>
            <a:ext cx="466344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086600" y="4791456"/>
            <a:ext cx="4389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延迟优先；需要样本并防止流量偏斜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48640" y="557784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9808" y="572414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官方当前仍推荐 simple-shuffle，并提醒 usage-based 策略可能增加 Redis 访问延迟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05 / 扩展与智能路由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成本优先、旧策略和内容分类要分开看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不是一个 routing_strategy 开关包办所有选模场景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来源：路由策略 / Auto Routing（Beta）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329184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359152"/>
            <a:ext cx="3017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840480" y="2240280"/>
            <a:ext cx="365760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77640" y="2359152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工作方式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498080" y="2240280"/>
            <a:ext cx="411480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2359152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关键边界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743200"/>
            <a:ext cx="329184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2871216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cost-based-routing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840480" y="2743200"/>
            <a:ext cx="365760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77640" y="2871216"/>
            <a:ext cx="3383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在可用候选中按价格信息选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98080" y="2743200"/>
            <a:ext cx="411480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2871216"/>
            <a:ext cx="3840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不是任务质量评估；价格映射必须准确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3383280"/>
            <a:ext cx="329184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511296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usage-based-routing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840480" y="3383280"/>
            <a:ext cx="365760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77640" y="3511296"/>
            <a:ext cx="3383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旧的用量感知实现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498080" y="3383280"/>
            <a:ext cx="411480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35240" y="3511296"/>
            <a:ext cx="3840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不要与异步 v2 混淆；关注 Redis 开销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4023360"/>
            <a:ext cx="329184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151376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CustomRoutingStrategy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840480" y="4023360"/>
            <a:ext cx="365760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977640" y="4151376"/>
            <a:ext cx="3383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自定义部署选择逻辑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498080" y="4023360"/>
            <a:ext cx="411480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35240" y="4151376"/>
            <a:ext cx="3840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代码扩展；需处理候选合法性与状态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4663440"/>
            <a:ext cx="329184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" y="4791456"/>
            <a:ext cx="3017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 Routing（Beta）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3840480" y="4663440"/>
            <a:ext cx="365760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977640" y="4791456"/>
            <a:ext cx="3383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/ 启发式 / LLM 分类后选 tier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498080" y="4663440"/>
            <a:ext cx="411480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635240" y="4791456"/>
            <a:ext cx="3840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有误分类与成本权衡；不是负载均衡别名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48640" y="557784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9808" y="572414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当前文档：Auto Routing 为 Beta；旧 Semantic Auto Router 已标记 deprecated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06 / 故障处理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重试、冷却与 Fallback 各负责一件事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重试应针对可恢复错误，不能指望多试几次修复无效 Schema 或错误权限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来源：重试与 Fallback / 路由策略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58568"/>
            <a:ext cx="3493008" cy="2432304"/>
          </a:xfrm>
          <a:prstGeom prst="roundRect">
            <a:avLst>
              <a:gd name="adj" fmla="val 488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6384" y="2478024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537460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6384" y="29809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Retry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86384" y="3602736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同一请求再尝试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根据错误类型和重试策略执行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要控制总时长与尝试次数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34256" y="2258568"/>
            <a:ext cx="3493008" cy="2432304"/>
          </a:xfrm>
          <a:prstGeom prst="roundRect">
            <a:avLst>
              <a:gd name="adj" fmla="val 488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478024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2537460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0" y="29809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Cooldown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4572000" y="3602736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暂时排除故障部署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减少继续命中已知故障点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不是永久删除模型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19872" y="2258568"/>
            <a:ext cx="3493008" cy="2432304"/>
          </a:xfrm>
          <a:prstGeom prst="roundRect">
            <a:avLst>
              <a:gd name="adj" fmla="val 488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57616" y="2478024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49056" y="2537460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357616" y="29809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Fallback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357616" y="3602736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主模型组失败后换备选组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可区分上下文超限等情况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备选必须满足协议与安全要求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4965192"/>
            <a:ext cx="5166360" cy="1225296"/>
          </a:xfrm>
          <a:prstGeom prst="roundRect">
            <a:avLst>
              <a:gd name="adj" fmla="val 9701"/>
            </a:avLst>
          </a:prstGeom>
          <a:solidFill>
            <a:srgbClr val="162F30"/>
          </a:solidFill>
          <a:ln w="10160">
            <a:solidFill>
              <a:srgbClr val="162F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5528" y="5166360"/>
            <a:ext cx="4672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router_settings: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num_retries: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timeout: 60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fallbacks: [{team-chat: [backup-chat]}]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099048" y="509320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片段示例：必须先定义 backup-chat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客户端、网关、上游的重试叠加可能放大请求量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07 / 预算与计费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预算控制依赖可靠的用量和价格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网关记录的成本是计算结果，不是云厂商最终账单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来源：Virtual Keys / Docker 与 Admin UI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356616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359152"/>
            <a:ext cx="3291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控制维度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14800" y="2240280"/>
            <a:ext cx="356616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0" y="2359152"/>
            <a:ext cx="3291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回答的问题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680960" y="2240280"/>
            <a:ext cx="393192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2359152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不能替代什么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743200"/>
            <a:ext cx="356616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2871216"/>
            <a:ext cx="3291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RPM / TPM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114800" y="2743200"/>
            <a:ext cx="356616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51960" y="2871216"/>
            <a:ext cx="3291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一分钟允许多少请求 / token？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680960" y="2743200"/>
            <a:ext cx="393192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18120" y="2871216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不是月度费用预算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3383280"/>
            <a:ext cx="356616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511296"/>
            <a:ext cx="3291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max_budget / budget_duration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114800" y="3383280"/>
            <a:ext cx="356616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51960" y="3511296"/>
            <a:ext cx="3291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周期内允许多少花费？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680960" y="3383280"/>
            <a:ext cx="393192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18120" y="3511296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不是云厂商账单结算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4023360"/>
            <a:ext cx="356616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151376"/>
            <a:ext cx="3291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模型白名单 / 团队权限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4114800" y="4023360"/>
            <a:ext cx="356616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251960" y="4151376"/>
            <a:ext cx="3291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 Key 能调用哪些入口？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7680960" y="4023360"/>
            <a:ext cx="393192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18120" y="4151376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不是上游模型能力验证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548640" y="4663440"/>
            <a:ext cx="356616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" y="4791456"/>
            <a:ext cx="3291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usage 与价格映射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4114800" y="4663440"/>
            <a:ext cx="356616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51960" y="4791456"/>
            <a:ext cx="3291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本次调用应记多少费用？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7680960" y="4663440"/>
            <a:ext cx="393192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18120" y="4791456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不能只凭 Cost=0 判断免费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548640" y="557784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9808" y="572414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先核对 usage、实际返回 model 和价格路径，再用预算做治理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07 / 缓存机制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响应缓存与 Prompt Cache 缓存的东西不同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的对话会变化，不能把“同一段系统提示词”误当成“完全相同请求”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来源：响应缓存 / 上游 Prompt Caching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58568"/>
            <a:ext cx="5349240" cy="2587752"/>
          </a:xfrm>
          <a:prstGeom prst="roundRect">
            <a:avLst>
              <a:gd name="adj" fmla="val 459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514600"/>
            <a:ext cx="4873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响应缓存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86384" y="3172968"/>
            <a:ext cx="487375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网关保存完整响应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命中时可不再请求上游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影响新鲜度、随机性与租户隔离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54496" y="2258568"/>
            <a:ext cx="5349240" cy="2587752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2514600"/>
            <a:ext cx="4873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Prompt Cache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92240" y="3172968"/>
            <a:ext cx="487375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上游复用前缀处理结果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通常仍然生成新的响应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规则、token 统计与折扣依 Provider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5093208"/>
            <a:ext cx="3657600" cy="1024128"/>
          </a:xfrm>
          <a:prstGeom prst="roundRect">
            <a:avLst>
              <a:gd name="adj" fmla="val 11607"/>
            </a:avLst>
          </a:prstGeom>
          <a:solidFill>
            <a:srgbClr val="162F30"/>
          </a:solidFill>
          <a:ln w="10160">
            <a:solidFill>
              <a:srgbClr val="162F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5528" y="5294376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litellm_settings: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cache: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cache_params: {type: redis}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99432" y="519379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还需配置 Redis 连接与缓存控制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语义缓存按相似度复用，尤其不宜盲用于带工具的 Agent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08 / 可观测性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排错要关联请求，不能只看聊天窗口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一次用户操作可能产生聊天、标题、摘要等多条后台请求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来源：日志与可观测性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31136"/>
            <a:ext cx="3493008" cy="297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6384" y="2450592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51002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6384" y="295351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先定位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86384" y="3575304"/>
            <a:ext cx="30175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时间与时区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call_id / request_id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User-Agent 与模型组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34256" y="2231136"/>
            <a:ext cx="3493008" cy="297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450592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251002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0" y="295351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再对照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4572000" y="3575304"/>
            <a:ext cx="30175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model_id 与 api_base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输入协议与 tools Schema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实际返回 model、usage、error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19872" y="2231136"/>
            <a:ext cx="3493008" cy="297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57616" y="2450592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49056" y="251002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357616" y="295351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最后判断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357616" y="3575304"/>
            <a:ext cx="30175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 还是 Provider 拒绝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流式、首 token、总延迟分开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与厂商日志 / 账单交叉核对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557784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" y="572414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生产日志默认最小化：保留诊断元数据，控制正文、密钥与个人信息的收集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08 / 安全与扩展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把标准治理和自定义改写分开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Guardrail 是策略能力；Hook 是可插入的代码逻辑，二者都需要观察与验证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来源：Guardrails / 请求与响应 Hook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5349240" cy="2770632"/>
          </a:xfrm>
          <a:prstGeom prst="roundRect">
            <a:avLst>
              <a:gd name="adj" fmla="val 4290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542032"/>
            <a:ext cx="4873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Guardrails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86384" y="3200400"/>
            <a:ext cx="48737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输入检测、PII 脱敏、输出检查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pre_call / during_call / post_call 接入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能力、UI 与许可依集成和版本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63640" y="2286000"/>
            <a:ext cx="5349240" cy="2770632"/>
          </a:xfrm>
          <a:prstGeom prst="roundRect">
            <a:avLst>
              <a:gd name="adj" fmla="val 42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01384" y="2542032"/>
            <a:ext cx="4873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 Hooks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501384" y="3200400"/>
            <a:ext cx="48737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调用前修改或拒绝请求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成功、失败与流式响应分别处理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模块必须被实际运行容器加载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557784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572414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删掉工具 Schema 的 oneOf 可能改变语义；不能把“通过校验”当作“功能仍然正确”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09 / 本地案例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Foundry：同一个项目地址，仍会有模型差异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2026-09-10 直连 Azure 最小实验，排除了 LiteLLM 转发和工具名称的影响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来源：Foundry Responses 路由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402336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313432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 / 上游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0" y="2194560"/>
            <a:ext cx="292608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2313432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位置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498080" y="2194560"/>
            <a:ext cx="411480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2313432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本地结果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697480"/>
            <a:ext cx="402336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28254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Responses / Sol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0" y="2697480"/>
            <a:ext cx="292608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28254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根节点 oneOf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98080" y="2697480"/>
            <a:ext cx="411480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28254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200，成功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3218688"/>
            <a:ext cx="4023360" cy="521208"/>
          </a:xfrm>
          <a:prstGeom prst="rect">
            <a:avLst>
              <a:gd name="adj" fmla="val 22807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3467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Responses / Model Router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572000" y="3218688"/>
            <a:ext cx="2926080" cy="521208"/>
          </a:xfrm>
          <a:prstGeom prst="rect">
            <a:avLst>
              <a:gd name="adj" fmla="val 22807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9160" y="33467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 object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498080" y="3218688"/>
            <a:ext cx="4114800" cy="521208"/>
          </a:xfrm>
          <a:prstGeom prst="rect">
            <a:avLst>
              <a:gd name="adj" fmla="val 22807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35240" y="3346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200，成功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3739896"/>
            <a:ext cx="402336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3867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Responses / Model Router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572000" y="3739896"/>
            <a:ext cx="292608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09160" y="38679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根节点 oneOf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498080" y="3739896"/>
            <a:ext cx="411480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35240" y="3867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400，Schema 校验失败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4261104"/>
            <a:ext cx="4023360" cy="521208"/>
          </a:xfrm>
          <a:prstGeom prst="rect">
            <a:avLst>
              <a:gd name="adj" fmla="val 22807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" y="4389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Responses / Model Router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4572000" y="4261104"/>
            <a:ext cx="2926080" cy="521208"/>
          </a:xfrm>
          <a:prstGeom prst="rect">
            <a:avLst>
              <a:gd name="adj" fmla="val 22807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09160" y="4389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属性内部 oneOf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498080" y="4261104"/>
            <a:ext cx="4114800" cy="521208"/>
          </a:xfrm>
          <a:prstGeom prst="rect">
            <a:avLst>
              <a:gd name="adj" fmla="val 22807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635240" y="4389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200，成功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48640" y="4782312"/>
            <a:ext cx="402336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5800" y="4910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 / Sol 与 Model Router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4572000" y="4782312"/>
            <a:ext cx="292608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09160" y="4910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根节点 oneOf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498080" y="4782312"/>
            <a:ext cx="4114800" cy="521208"/>
          </a:xfrm>
          <a:prstGeom prst="rect">
            <a:avLst>
              <a:gd name="adj" fmla="val 2280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35240" y="4910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均为 400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548640" y="557784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9808" y="572414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能定位到 Router 路径差异；不能据此证明选模前拒绝，也不能推广成所有 Azure 都不兼容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09 / 从案例提炼方法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先控制变量，再考虑兼容处理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先证实问题在哪一层，再决定应修改客户端、网关还是等待 Provider 修复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来源：请求与响应 Hook / 重试与 Fallback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340864"/>
            <a:ext cx="2560320" cy="260604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6384" y="2560320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619756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6384" y="306324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固定输入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86384" y="3685032"/>
            <a:ext cx="20848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同一客户端版本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 tools 指纹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383280" y="2340864"/>
            <a:ext cx="2560320" cy="260604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21024" y="2560320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12464" y="2619756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621024" y="306324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交叉测试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3621024" y="3685032"/>
            <a:ext cx="20848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同模型换端点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同端点换模型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17920" y="2340864"/>
            <a:ext cx="2560320" cy="260604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55664" y="2560320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47104" y="2619756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55664" y="306324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绕过网关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6455664" y="3685032"/>
            <a:ext cx="20848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直连同一上游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使用最小 Schema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052560" y="2340864"/>
            <a:ext cx="2560320" cy="260604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90304" y="2560320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81744" y="2619756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290304" y="306324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验证方案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9290304" y="3685032"/>
            <a:ext cx="208483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/ 桥接对照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功能和安全回归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48640" y="557784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9808" y="572414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 automation_update 会影响模型管理计划任务；不等于已存在的调度任务全部停止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10 / 上线前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从“能调用”走到“能持续运行”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把部署、配置、身份与运行证据一起纳入变更管理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来源：Docker 与 Admin UI / 配置与数据来源 / 路由策略 / 日志与可观测性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58568"/>
            <a:ext cx="3493008" cy="297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6384" y="2478024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537460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6384" y="29809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86384" y="3602736"/>
            <a:ext cx="30175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固定镜像 tag / digest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记录运行包版本与配置来源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数据库迁移与回滚预案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34256" y="2258568"/>
            <a:ext cx="3493008" cy="297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478024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2537460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0" y="29809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可恢复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4572000" y="3602736"/>
            <a:ext cx="30175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数据库与 Salt Key 备份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多副本共享必要 Redis 状态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检查故障切换和预算行为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19872" y="2258568"/>
            <a:ext cx="3493008" cy="297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57616" y="2478024"/>
            <a:ext cx="566928" cy="329184"/>
          </a:xfrm>
          <a:prstGeom prst="roundRect">
            <a:avLst>
              <a:gd name="adj" fmla="val 36111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49056" y="2537460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357616" y="29809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可治理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357616" y="3602736"/>
            <a:ext cx="30175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TLS、网络边界与最小权限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日志脱敏与留存期限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核对企业功能许可与版本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557784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" y="572414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官网实时功能、本地源码与 Docker 镜像可能是三个不同版本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10 / 学习实验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用可观察的结果检验你是否理解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每次只改变一个条件，保留配置快照；小量真实调用可能产生费用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来源：路由策略 / 重试与 Fallback / 响应缓存 / Virtual Keys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49424"/>
            <a:ext cx="2240280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368296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88920" y="2249424"/>
            <a:ext cx="4407408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2368296"/>
            <a:ext cx="4133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改变什么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96328" y="2249424"/>
            <a:ext cx="4416552" cy="502920"/>
          </a:xfrm>
          <a:prstGeom prst="rect">
            <a:avLst>
              <a:gd name="adj" fmla="val 23636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33488" y="2368296"/>
            <a:ext cx="4142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观察什么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752344"/>
            <a:ext cx="224028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2880360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模型映射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788920" y="2752344"/>
            <a:ext cx="4407408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26080" y="2880360"/>
            <a:ext cx="4133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公开名称不变，更换候选部署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196328" y="2752344"/>
            <a:ext cx="4416552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33488" y="2880360"/>
            <a:ext cx="4142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model_id / api_base，不听模型自称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3392424"/>
            <a:ext cx="224028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520440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负载均衡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788920" y="3392424"/>
            <a:ext cx="4407408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0" y="3520440"/>
            <a:ext cx="4133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同组两部署，设 9:1 权重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196328" y="3392424"/>
            <a:ext cx="4416552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33488" y="3520440"/>
            <a:ext cx="4142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多次选择分布，不要求每 10 次恰好 9:1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4032504"/>
            <a:ext cx="2240280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160520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故障切换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788920" y="4032504"/>
            <a:ext cx="4407408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926080" y="4160520"/>
            <a:ext cx="4133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隔离测试环境制造真实上游失败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196328" y="4032504"/>
            <a:ext cx="4416552" cy="640080"/>
          </a:xfrm>
          <a:prstGeom prst="rect">
            <a:avLst>
              <a:gd name="adj" fmla="val 1857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33488" y="4160520"/>
            <a:ext cx="4142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尝试链路、备选组、总耗时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4672584"/>
            <a:ext cx="2240280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" y="4800600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限额与缓存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788920" y="4672584"/>
            <a:ext cx="4407408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926080" y="4800600"/>
            <a:ext cx="41330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 RPM；单独启用精确缓存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196328" y="4672584"/>
            <a:ext cx="4416552" cy="640080"/>
          </a:xfrm>
          <a:prstGeom prst="rect">
            <a:avLst>
              <a:gd name="adj" fmla="val 18571"/>
            </a:avLst>
          </a:prstGeom>
          <a:solidFill>
            <a:srgbClr val="E9EEE7"/>
          </a:solidFill>
          <a:ln w="10160">
            <a:solidFill>
              <a:srgbClr val="E9EE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33488" y="4800600"/>
            <a:ext cx="41422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429 的来源；上游调用数与命中元数据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48640" y="5577840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9808" y="5724144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先跟手册完成最小接入，再逐项启用路由、治理和扩展，不改当前生产配置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4E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核心认识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学会用五个问题拆解任何请求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D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E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DCE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来源：产品与 SDK / 路由策略 / Virtual Keys / 日志与可观测性 · 链接见备注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58368" y="1911096"/>
            <a:ext cx="585216" cy="329184"/>
          </a:xfrm>
          <a:prstGeom prst="roundRect">
            <a:avLst>
              <a:gd name="adj" fmla="val 36111"/>
            </a:avLst>
          </a:prstGeom>
          <a:solidFill>
            <a:srgbClr val="D4EB7A"/>
          </a:solidFill>
          <a:ln w="10160">
            <a:solidFill>
              <a:srgbClr val="D4EB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970532"/>
            <a:ext cx="402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490472" y="182880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谁在调用？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760720" y="19202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2E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Key、用户、团队与权限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8368" y="2688336"/>
            <a:ext cx="585216" cy="329184"/>
          </a:xfrm>
          <a:prstGeom prst="roundRect">
            <a:avLst>
              <a:gd name="adj" fmla="val 36111"/>
            </a:avLst>
          </a:prstGeom>
          <a:solidFill>
            <a:srgbClr val="D4EB7A"/>
          </a:solidFill>
          <a:ln w="10160">
            <a:solidFill>
              <a:srgbClr val="D4EB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2747772"/>
            <a:ext cx="402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490472" y="260604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用什么协议？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5760720" y="26974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2E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客户端端点、原生还是桥接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58368" y="3465576"/>
            <a:ext cx="585216" cy="329184"/>
          </a:xfrm>
          <a:prstGeom prst="roundRect">
            <a:avLst>
              <a:gd name="adj" fmla="val 36111"/>
            </a:avLst>
          </a:prstGeom>
          <a:solidFill>
            <a:srgbClr val="D4EB7A"/>
          </a:solidFill>
          <a:ln w="10160">
            <a:solidFill>
              <a:srgbClr val="D4EB7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3525012"/>
            <a:ext cx="402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490472" y="33832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选哪个部署？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5760720" y="34747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2E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模型组、策略、Fallback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58368" y="4242816"/>
            <a:ext cx="585216" cy="329184"/>
          </a:xfrm>
          <a:prstGeom prst="roundRect">
            <a:avLst>
              <a:gd name="adj" fmla="val 36111"/>
            </a:avLst>
          </a:prstGeom>
          <a:solidFill>
            <a:srgbClr val="D4EB7A"/>
          </a:solidFill>
          <a:ln w="10160">
            <a:solidFill>
              <a:srgbClr val="D4EB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" y="4302252"/>
            <a:ext cx="402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490472" y="416052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发生了什么？</a:t>
            </a:r>
            <a:endParaRPr lang="en-US" sz="2500" dirty="0"/>
          </a:p>
        </p:txBody>
      </p:sp>
      <p:sp>
        <p:nvSpPr>
          <p:cNvPr id="23" name="Text 20"/>
          <p:cNvSpPr/>
          <p:nvPr/>
        </p:nvSpPr>
        <p:spPr>
          <a:xfrm>
            <a:off x="5760720" y="42519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2E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上游响应、工具、用量和错误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58368" y="5020056"/>
            <a:ext cx="585216" cy="329184"/>
          </a:xfrm>
          <a:prstGeom prst="roundRect">
            <a:avLst>
              <a:gd name="adj" fmla="val 36111"/>
            </a:avLst>
          </a:prstGeom>
          <a:solidFill>
            <a:srgbClr val="D4EB7A"/>
          </a:solidFill>
          <a:ln w="10160">
            <a:solidFill>
              <a:srgbClr val="D4EB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" y="5079492"/>
            <a:ext cx="402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490472" y="493776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能否可靠运营？</a:t>
            </a:r>
            <a:endParaRPr lang="en-US" sz="2500" dirty="0"/>
          </a:p>
        </p:txBody>
      </p:sp>
      <p:sp>
        <p:nvSpPr>
          <p:cNvPr id="27" name="Text 24"/>
          <p:cNvSpPr/>
          <p:nvPr/>
        </p:nvSpPr>
        <p:spPr>
          <a:xfrm>
            <a:off x="5760720" y="5029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2E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预算、缓存、日志、版本和备份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 / 参考资料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11064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官方文档与配套手册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各页备注含对应完整链接；学习手册提供更详细原理、配置、实验和参考索引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19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 · 2026-09-11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00232" y="63642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6419088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8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来源：产品与 SDK · 链接见备注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283464" cy="283464"/>
          </a:xfrm>
          <a:prstGeom prst="roundRect">
            <a:avLst>
              <a:gd name="adj" fmla="val 41935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0" name="Text 7">
            <a:hlinkClick r:id="rId1" tooltip=""/>
          </p:cNvPr>
          <p:cNvSpPr/>
          <p:nvPr/>
        </p:nvSpPr>
        <p:spPr>
          <a:xfrm>
            <a:off x="978408" y="221742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产品与 SDK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642616"/>
            <a:ext cx="283464" cy="283464"/>
          </a:xfrm>
          <a:prstGeom prst="roundRect">
            <a:avLst>
              <a:gd name="adj" fmla="val 41935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2" name="Text 9">
            <a:hlinkClick r:id="rId2" tooltip=""/>
          </p:cNvPr>
          <p:cNvSpPr/>
          <p:nvPr/>
        </p:nvSpPr>
        <p:spPr>
          <a:xfrm>
            <a:off x="978408" y="2665476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 快速开始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090672"/>
            <a:ext cx="283464" cy="283464"/>
          </a:xfrm>
          <a:prstGeom prst="roundRect">
            <a:avLst>
              <a:gd name="adj" fmla="val 41935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4" name="Text 11">
            <a:hlinkClick r:id="rId3" tooltip=""/>
          </p:cNvPr>
          <p:cNvSpPr/>
          <p:nvPr/>
        </p:nvSpPr>
        <p:spPr>
          <a:xfrm>
            <a:off x="978408" y="3113532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与 Admin UI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3538728"/>
            <a:ext cx="283464" cy="283464"/>
          </a:xfrm>
          <a:prstGeom prst="roundRect">
            <a:avLst>
              <a:gd name="adj" fmla="val 41935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6" name="Text 13">
            <a:hlinkClick r:id="rId4" tooltip=""/>
          </p:cNvPr>
          <p:cNvSpPr/>
          <p:nvPr/>
        </p:nvSpPr>
        <p:spPr>
          <a:xfrm>
            <a:off x="978408" y="3561588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配置与数据来源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3986784"/>
            <a:ext cx="283464" cy="283464"/>
          </a:xfrm>
          <a:prstGeom prst="roundRect">
            <a:avLst>
              <a:gd name="adj" fmla="val 41935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18" name="Text 15">
            <a:hlinkClick r:id="rId5" tooltip=""/>
          </p:cNvPr>
          <p:cNvSpPr/>
          <p:nvPr/>
        </p:nvSpPr>
        <p:spPr>
          <a:xfrm>
            <a:off x="978408" y="4009644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路由策略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4434840"/>
            <a:ext cx="283464" cy="283464"/>
          </a:xfrm>
          <a:prstGeom prst="roundRect">
            <a:avLst>
              <a:gd name="adj" fmla="val 41935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20" name="Text 17">
            <a:hlinkClick r:id="rId6" tooltip=""/>
          </p:cNvPr>
          <p:cNvSpPr/>
          <p:nvPr/>
        </p:nvSpPr>
        <p:spPr>
          <a:xfrm>
            <a:off x="978408" y="445770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重试与 Fallback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4882896"/>
            <a:ext cx="283464" cy="283464"/>
          </a:xfrm>
          <a:prstGeom prst="roundRect">
            <a:avLst>
              <a:gd name="adj" fmla="val 41935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22" name="Text 19">
            <a:hlinkClick r:id="rId7" tooltip=""/>
          </p:cNvPr>
          <p:cNvSpPr/>
          <p:nvPr/>
        </p:nvSpPr>
        <p:spPr>
          <a:xfrm>
            <a:off x="978408" y="4905756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Virtual Keys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63640" y="2194560"/>
            <a:ext cx="283464" cy="283464"/>
          </a:xfrm>
          <a:prstGeom prst="roundRect">
            <a:avLst>
              <a:gd name="adj" fmla="val 41935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24" name="Text 21">
            <a:hlinkClick r:id="rId8" tooltip=""/>
          </p:cNvPr>
          <p:cNvSpPr/>
          <p:nvPr/>
        </p:nvSpPr>
        <p:spPr>
          <a:xfrm>
            <a:off x="6693408" y="221742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响应缓存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63640" y="2642616"/>
            <a:ext cx="283464" cy="283464"/>
          </a:xfrm>
          <a:prstGeom prst="roundRect">
            <a:avLst>
              <a:gd name="adj" fmla="val 41935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26" name="Text 23">
            <a:hlinkClick r:id="rId9" tooltip=""/>
          </p:cNvPr>
          <p:cNvSpPr/>
          <p:nvPr/>
        </p:nvSpPr>
        <p:spPr>
          <a:xfrm>
            <a:off x="6693408" y="2665476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日志与可观测性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263640" y="3090672"/>
            <a:ext cx="283464" cy="283464"/>
          </a:xfrm>
          <a:prstGeom prst="roundRect">
            <a:avLst>
              <a:gd name="adj" fmla="val 41935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28" name="Text 25">
            <a:hlinkClick r:id="rId10" tooltip=""/>
          </p:cNvPr>
          <p:cNvSpPr/>
          <p:nvPr/>
        </p:nvSpPr>
        <p:spPr>
          <a:xfrm>
            <a:off x="6693408" y="3113532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请求与响应 Hook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263640" y="3538728"/>
            <a:ext cx="283464" cy="283464"/>
          </a:xfrm>
          <a:prstGeom prst="roundRect">
            <a:avLst>
              <a:gd name="adj" fmla="val 41935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30" name="Text 27">
            <a:hlinkClick r:id="rId11" tooltip=""/>
          </p:cNvPr>
          <p:cNvSpPr/>
          <p:nvPr/>
        </p:nvSpPr>
        <p:spPr>
          <a:xfrm>
            <a:off x="6693408" y="3561588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Guardrails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63640" y="3986784"/>
            <a:ext cx="283464" cy="283464"/>
          </a:xfrm>
          <a:prstGeom prst="roundRect">
            <a:avLst>
              <a:gd name="adj" fmla="val 41935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32" name="Text 29">
            <a:hlinkClick r:id="rId12" tooltip=""/>
          </p:cNvPr>
          <p:cNvSpPr/>
          <p:nvPr/>
        </p:nvSpPr>
        <p:spPr>
          <a:xfrm>
            <a:off x="6693408" y="4009644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 Routing（Beta）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263640" y="4434840"/>
            <a:ext cx="283464" cy="283464"/>
          </a:xfrm>
          <a:prstGeom prst="roundRect">
            <a:avLst>
              <a:gd name="adj" fmla="val 41935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34" name="Text 31">
            <a:hlinkClick r:id="rId13" tooltip=""/>
          </p:cNvPr>
          <p:cNvSpPr/>
          <p:nvPr/>
        </p:nvSpPr>
        <p:spPr>
          <a:xfrm>
            <a:off x="6693408" y="445770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Foundry Responses 路由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263640" y="4882896"/>
            <a:ext cx="283464" cy="283464"/>
          </a:xfrm>
          <a:prstGeom prst="roundRect">
            <a:avLst>
              <a:gd name="adj" fmla="val 41935"/>
            </a:avLst>
          </a:prstGeom>
          <a:solidFill>
            <a:srgbClr val="087F7B"/>
          </a:solidFill>
          <a:ln w="10160">
            <a:solidFill>
              <a:srgbClr val="087F7B"/>
            </a:solidFill>
            <a:prstDash val="solid"/>
          </a:ln>
        </p:spPr>
      </p:sp>
      <p:sp>
        <p:nvSpPr>
          <p:cNvPr id="36" name="Text 33">
            <a:hlinkClick r:id="rId14" tooltip=""/>
          </p:cNvPr>
          <p:cNvSpPr/>
          <p:nvPr/>
        </p:nvSpPr>
        <p:spPr>
          <a:xfrm>
            <a:off x="6693408" y="4905756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08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上游 Prompt Caching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48640" y="5724144"/>
            <a:ext cx="11064240" cy="530352"/>
          </a:xfrm>
          <a:prstGeom prst="roundRect">
            <a:avLst>
              <a:gd name="adj" fmla="val 22414"/>
            </a:avLst>
          </a:prstGeom>
          <a:solidFill>
            <a:srgbClr val="D8F0E7"/>
          </a:solidFill>
          <a:ln w="10160">
            <a:solidFill>
              <a:srgbClr val="D8F0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49808" y="5870448"/>
            <a:ext cx="10643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F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配套文件：litellm-learning-handbook.md  |  先通读，再按学习实验逐项验证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LiteLLM：从接入到治理</dc:title>
  <dc:subject>LiteLLM 中文介绍、架构与配置</dc:subject>
  <dc:creator>LiteLLM learning notes</dc:creator>
  <cp:lastModifiedBy>LiteLLM learning notes</cp:lastModifiedBy>
  <cp:revision>1</cp:revision>
  <dcterms:created xsi:type="dcterms:W3CDTF">2026-09-11T06:17:14Z</dcterms:created>
  <dcterms:modified xsi:type="dcterms:W3CDTF">2026-09-11T06:17:14Z</dcterms:modified>
</cp:coreProperties>
</file>